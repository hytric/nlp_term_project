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 type="screen16x9"/>
  <p:notesSz cx="6858000" cy="9144000"/>
  <p:defaultTextStyle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Relationship Id="rId10" Type="http://schemas.openxmlformats.org/officeDocument/2006/relationships/slide" Target="slides/slide9.xml"/>
<Relationship Id="rId11" Type="http://schemas.openxmlformats.org/officeDocument/2006/relationships/slide" Target="slides/slide10.xml"/>
<Relationship Id="rId12" Type="http://schemas.openxmlformats.org/officeDocument/2006/relationships/slide" Target="slides/slide11.xml"/>
<Relationship Id="rId13" Type="http://schemas.openxmlformats.org/officeDocument/2006/relationships/slide" Target="slides/slide12.xml"/>
<Relationship Id="rId14" Type="http://schemas.openxmlformats.org/officeDocument/2006/relationships/slide" Target="slides/slide13.xml"/>
<Relationship Id="rId15" Type="http://schemas.openxmlformats.org/officeDocument/2006/relationships/slide" Target="slides/slide14.xml"/>
<Relationship Id="rId16" Type="http://schemas.openxmlformats.org/officeDocument/2006/relationships/slide" Target="slides/slide15.xml"/>
<Relationship Id="rId17" Type="http://schemas.openxmlformats.org/officeDocument/2006/relationships/presProps" Target="presProps.xml"/>
<Relationship Id="rId18" Type="http://schemas.openxmlformats.org/officeDocument/2006/relationships/viewProps" Target="viewProps.xml"/>
<Relationship Id="rId19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1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85800" y="310000"/>
            <a:ext cx="108204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300" b="1">
                <a:solidFill>
                  <a:srgbClr val="0F766E"/>
                </a:solidFill>
              </a:rPr>
              <a:t>v5 Glot500-style replay · 01/15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85800" y="650000"/>
            <a:ext cx="10820400" cy="7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85000" lnSpcReduction="20000"/>
          </a:bodyPr>
          <a:lstStyle/>
          <a:p>
            <a:r>
              <a:rPr lang="ko-KR" sz="3200" b="1">
                <a:solidFill>
                  <a:srgbClr val="0F3D3E"/>
                </a:solidFill>
              </a:rPr>
              <a:t>제목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1450000"/>
            <a:ext cx="10820400" cy="46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85000" lnSpcReduction="20000"/>
          </a:bodyPr>
          <a:lstStyle/>
          <a:p>
            <a:r>
              <a:rPr lang="ko-KR" sz="1800">
                <a:solidFill>
                  <a:srgbClr val="172033"/>
                </a:solidFill>
              </a:rPr>
              <a:t>Controlled Glot500-Style Replay with Vocabulary-Extension Initialization</a:t>
            </a:r>
          </a:p>
          <a:p>
            <a:r>
              <a:rPr lang="ko-KR" sz="1800">
                <a:solidFill>
                  <a:srgbClr val="172033"/>
                </a:solidFill>
              </a:rPr>
              <a:t>• 92 XLM-R-seen Glot500 language-scripts</a:t>
            </a:r>
          </a:p>
          <a:p>
            <a:r>
              <a:rPr lang="ko-KR" sz="1800">
                <a:solidFill>
                  <a:srgbClr val="172033"/>
                </a:solidFill>
              </a:rPr>
              <a:t>• 10 Glot500-internal non-XLM-R target language-scripts</a:t>
            </a:r>
          </a:p>
          <a:p>
            <a:r>
              <a:rPr lang="ko-KR" sz="1800">
                <a:solidFill>
                  <a:srgbClr val="172033"/>
                </a:solidFill>
              </a:rPr>
              <a:t>• novelty: appended vocabulary row initialization</a:t>
            </a:r>
          </a:p>
          <a:p>
            <a:r>
              <a:rPr lang="ko-KR" sz="1800">
                <a:solidFill>
                  <a:srgbClr val="172033"/>
                </a:solidFill>
              </a:rPr>
              <a:t>Source:</a:t>
            </a:r>
          </a:p>
          <a:p>
            <a:r>
              <a:rPr lang="ko-KR" sz="1300">
                <a:solidFill>
                  <a:srgbClr val="172033"/>
                </a:solidFill>
              </a:rPr>
              <a:t>docs/exp/v5/4_reporting/03_final_report/claim_ledger.md</a:t>
            </a:r>
          </a:p>
          <a:p>
            <a:r>
              <a:rPr lang="ko-KR" sz="1300">
                <a:solidFill>
                  <a:srgbClr val="172033"/>
                </a:solidFill>
              </a:rPr>
              <a:t>docs/exp/v5/4_reporting/final_claim_decision_tree.md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85800" y="6320000"/>
            <a:ext cx="108204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900">
                <a:solidFill>
                  <a:srgbClr val="5C667A"/>
                </a:solidFill>
              </a:rPr>
              <a:t>Source: docs/exp/v5/4_reporting/02_slides/final_deck_ko.md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1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85800" y="310000"/>
            <a:ext cx="108204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300" b="1">
                <a:solidFill>
                  <a:srgbClr val="0F766E"/>
                </a:solidFill>
              </a:rPr>
              <a:t>v5 Glot500-style replay · 02/15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85800" y="650000"/>
            <a:ext cx="10820400" cy="7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85000" lnSpcReduction="20000"/>
          </a:bodyPr>
          <a:lstStyle/>
          <a:p>
            <a:r>
              <a:rPr lang="ko-KR" sz="3200" b="1">
                <a:solidFill>
                  <a:srgbClr val="0F3D3E"/>
                </a:solidFill>
              </a:rPr>
              <a:t>문제의식과 기여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1450000"/>
            <a:ext cx="10820400" cy="46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85000" lnSpcReduction="20000"/>
          </a:bodyPr>
          <a:lstStyle/>
          <a:p>
            <a:r>
              <a:rPr lang="ko-KR" sz="1800">
                <a:solidFill>
                  <a:srgbClr val="172033"/>
                </a:solidFill>
              </a:rPr>
              <a:t>Problem: multilingual coverage is broad, but not uniform.</a:t>
            </a:r>
          </a:p>
          <a:p>
            <a:r>
              <a:rPr lang="ko-KR" sz="1800">
                <a:solidFill>
                  <a:srgbClr val="172033"/>
                </a:solidFill>
              </a:rPr>
              <a:t>• Reproduction: artifact-audited 92+10 Glot500-style replay</a:t>
            </a:r>
          </a:p>
          <a:p>
            <a:r>
              <a:rPr lang="ko-KR" sz="1800">
                <a:solidFill>
                  <a:srgbClr val="172033"/>
                </a:solidFill>
              </a:rPr>
              <a:t>• Novelty: appended vocabulary row initialization with FVT</a:t>
            </a:r>
          </a:p>
          <a:p>
            <a:r>
              <a:rPr lang="ko-KR" sz="1800">
                <a:solidFill>
                  <a:srgbClr val="172033"/>
                </a:solidFill>
              </a:rPr>
              <a:t>• Fidelity: PPPL, retrieval, classification, tagging, Roundtrip retained</a:t>
            </a:r>
          </a:p>
          <a:p>
            <a:r>
              <a:rPr lang="ko-KR" sz="1800">
                <a:solidFill>
                  <a:srgbClr val="172033"/>
                </a:solidFill>
              </a:rPr>
              <a:t>• Claim rule: final method claims wait for matched checkpoints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85800" y="6320000"/>
            <a:ext cx="108204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900">
                <a:solidFill>
                  <a:srgbClr val="5C667A"/>
                </a:solidFill>
              </a:rPr>
              <a:t>Source: docs/exp/v5/4_reporting/02_slides/final_deck_ko.md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1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85800" y="310000"/>
            <a:ext cx="108204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300" b="1">
                <a:solidFill>
                  <a:srgbClr val="0F766E"/>
                </a:solidFill>
              </a:rPr>
              <a:t>v5 Glot500-style replay · 03/15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85800" y="650000"/>
            <a:ext cx="10820400" cy="7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85000" lnSpcReduction="20000"/>
          </a:bodyPr>
          <a:lstStyle/>
          <a:p>
            <a:r>
              <a:rPr lang="ko-KR" sz="3200" b="1">
                <a:solidFill>
                  <a:srgbClr val="0F3D3E"/>
                </a:solidFill>
              </a:rPr>
              <a:t>재연 범위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1450000"/>
            <a:ext cx="10820400" cy="46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85000" lnSpcReduction="20000"/>
          </a:bodyPr>
          <a:lstStyle/>
          <a:p>
            <a:r>
              <a:rPr lang="ko-KR" sz="1800">
                <a:solidFill>
                  <a:srgbClr val="172033"/>
                </a:solidFill>
              </a:rPr>
              <a:t>Full Glot500 reproduction이 아니라 controlled subset replay이다.</a:t>
            </a:r>
          </a:p>
          <a:p>
            <a:r>
              <a:rPr lang="ko-KR" sz="1800">
                <a:solidFill>
                  <a:srgbClr val="172033"/>
                </a:solidFill>
              </a:rPr>
              <a:t>Scope comparison:</a:t>
            </a:r>
          </a:p>
          <a:p>
            <a:r>
              <a:rPr lang="ko-KR" sz="1800">
                <a:solidFill>
                  <a:srgbClr val="172033"/>
                </a:solidFill>
              </a:rPr>
              <a:t>• scale: Glot500 500+ languages -&gt; v5 102 language-scripts</a:t>
            </a:r>
          </a:p>
          <a:p>
            <a:r>
              <a:rPr lang="ko-KR" sz="1800">
                <a:solidFill>
                  <a:srgbClr val="172033"/>
                </a:solidFill>
              </a:rPr>
              <a:t>• corpus: Glot500-c -&gt; 92 seen + 10 target</a:t>
            </a:r>
          </a:p>
          <a:p>
            <a:r>
              <a:rPr lang="ko-KR" sz="1800">
                <a:solidFill>
                  <a:srgbClr val="172033"/>
                </a:solidFill>
              </a:rPr>
              <a:t>• tokenizer: SentencePiece expansion -&gt; SPM append-style expansion</a:t>
            </a:r>
          </a:p>
          <a:p>
            <a:r>
              <a:rPr lang="ko-KR" sz="1800">
                <a:solidFill>
                  <a:srgbClr val="172033"/>
                </a:solidFill>
              </a:rPr>
              <a:t>• training: continued MLM -&gt; continued MLM</a:t>
            </a:r>
          </a:p>
          <a:p>
            <a:r>
              <a:rPr lang="ko-KR" sz="1800">
                <a:solidFill>
                  <a:srgbClr val="172033"/>
                </a:solidFill>
              </a:rPr>
              <a:t>• evaluation: Glot500 metrics -&gt; same metric families</a:t>
            </a:r>
          </a:p>
          <a:p>
            <a:r>
              <a:rPr lang="ko-KR" sz="1800">
                <a:solidFill>
                  <a:srgbClr val="172033"/>
                </a:solidFill>
              </a:rPr>
              <a:t>Backup evidence:</a:t>
            </a:r>
          </a:p>
          <a:p>
            <a:r>
              <a:rPr lang="ko-KR" sz="1300">
                <a:solidFill>
                  <a:srgbClr val="172033"/>
                </a:solidFill>
              </a:rPr>
              <a:t>docs/exp/v5/4_reporting/00_tables/table_15_glot500_reproduction_fidelity.md</a:t>
            </a:r>
          </a:p>
          <a:p>
            <a:r>
              <a:rPr lang="ko-KR" sz="1300">
                <a:solidFill>
                  <a:srgbClr val="172033"/>
                </a:solidFill>
              </a:rPr>
              <a:t>docs/exp/v5/4_reporting/01_figures/generated/figure_01_experiment_pipeline.png</a:t>
            </a:r>
          </a:p>
          <a:p>
            <a:r>
              <a:rPr lang="ko-KR" sz="1800">
                <a:solidFill>
                  <a:srgbClr val="172033"/>
                </a:solidFill>
              </a:rPr>
              <a:t>금지 표현:</a:t>
            </a:r>
          </a:p>
          <a:p>
            <a:r>
              <a:rPr lang="ko-KR" sz="1300">
                <a:solidFill>
                  <a:srgbClr val="172033"/>
                </a:solidFill>
              </a:rPr>
              <a:t>full 511-language Glot500 reproduction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85800" y="6320000"/>
            <a:ext cx="108204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900">
                <a:solidFill>
                  <a:srgbClr val="5C667A"/>
                </a:solidFill>
              </a:rPr>
              <a:t>Source: docs/exp/v5/4_reporting/02_slides/final_deck_ko.md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1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85800" y="310000"/>
            <a:ext cx="108204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300" b="1">
                <a:solidFill>
                  <a:srgbClr val="0F766E"/>
                </a:solidFill>
              </a:rPr>
              <a:t>v5 Glot500-style replay · 04/15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85800" y="650000"/>
            <a:ext cx="10820400" cy="7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85000" lnSpcReduction="20000"/>
          </a:bodyPr>
          <a:lstStyle/>
          <a:p>
            <a:r>
              <a:rPr lang="ko-KR" sz="3200" b="1">
                <a:solidFill>
                  <a:srgbClr val="0F3D3E"/>
                </a:solidFill>
              </a:rPr>
              <a:t>Target10 선정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1450000"/>
            <a:ext cx="10820400" cy="46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85000" lnSpcReduction="20000"/>
          </a:bodyPr>
          <a:lstStyle/>
          <a:p>
            <a:r>
              <a:rPr lang="ko-KR" sz="1800">
                <a:solidFill>
                  <a:srgbClr val="172033"/>
                </a:solidFill>
              </a:rPr>
              <a:t>Target10은 Glot500 내부 raw dataset에서 골랐다.</a:t>
            </a:r>
          </a:p>
          <a:p>
            <a:r>
              <a:rPr lang="ko-KR" sz="1800">
                <a:solidFill>
                  <a:srgbClr val="172033"/>
                </a:solidFill>
              </a:rPr>
              <a:t>선정 조건:</a:t>
            </a:r>
          </a:p>
          <a:p>
            <a:r>
              <a:rPr lang="ko-KR" sz="1800">
                <a:solidFill>
                  <a:srgbClr val="172033"/>
                </a:solidFill>
              </a:rPr>
              <a:t>• XLM-R seen이 아님</a:t>
            </a:r>
          </a:p>
          <a:p>
            <a:r>
              <a:rPr lang="ko-KR" sz="1800">
                <a:solidFill>
                  <a:srgbClr val="172033"/>
                </a:solidFill>
              </a:rPr>
              <a:t>• new_length &gt;= 30000</a:t>
            </a:r>
          </a:p>
          <a:p>
            <a:r>
              <a:rPr lang="ko-KR" sz="1800">
                <a:solidFill>
                  <a:srgbClr val="172033"/>
                </a:solidFill>
              </a:rPr>
              <a:t>• local raw directory 존재</a:t>
            </a:r>
          </a:p>
          <a:p>
            <a:r>
              <a:rPr lang="ko-KR" sz="1800">
                <a:solidFill>
                  <a:srgbClr val="172033"/>
                </a:solidFill>
              </a:rPr>
              <a:t>• 지역/문자/어족 다양성</a:t>
            </a:r>
          </a:p>
          <a:p>
            <a:r>
              <a:rPr lang="ko-KR" sz="1800">
                <a:solidFill>
                  <a:srgbClr val="172033"/>
                </a:solidFill>
              </a:rPr>
              <a:t>Coverage snapshot:</a:t>
            </a:r>
          </a:p>
          <a:p>
            <a:r>
              <a:rPr lang="ko-KR" sz="1800">
                <a:solidFill>
                  <a:srgbClr val="172033"/>
                </a:solidFill>
              </a:rPr>
              <a:t>• scripts: Latn, Cyrl, Arab, Tibt, Olck</a:t>
            </a:r>
          </a:p>
          <a:p>
            <a:r>
              <a:rPr lang="ko-KR" sz="1800">
                <a:solidFill>
                  <a:srgbClr val="172033"/>
                </a:solidFill>
              </a:rPr>
              <a:t>• regions: Europe, North Caucasus, West Asia, Himalaya, South/Southeast Asia,</a:t>
            </a:r>
          </a:p>
          <a:p>
            <a:r>
              <a:rPr lang="ko-KR" sz="1800">
                <a:solidFill>
                  <a:srgbClr val="172033"/>
                </a:solidFill>
              </a:rPr>
              <a:t>West Africa, Mesoamerica, Andean South America, Polynesia</a:t>
            </a:r>
          </a:p>
          <a:p>
            <a:r>
              <a:rPr lang="ko-KR" sz="1800">
                <a:solidFill>
                  <a:srgbClr val="172033"/>
                </a:solidFill>
              </a:rPr>
              <a:t>• new_length range: 30,052-52,732</a:t>
            </a:r>
          </a:p>
          <a:p>
            <a:r>
              <a:rPr lang="ko-KR" sz="1800">
                <a:solidFill>
                  <a:srgbClr val="172033"/>
                </a:solidFill>
              </a:rPr>
              <a:t>Target codes:</a:t>
            </a:r>
          </a:p>
          <a:p>
            <a:r>
              <a:rPr lang="ko-KR" sz="1300">
                <a:solidFill>
                  <a:srgbClr val="172033"/>
                </a:solidFill>
              </a:rPr>
              <a:t>fur_Latn, krc_Cyrl, acm_Arab, dzo_Tibt, sat_Olck,</a:t>
            </a:r>
          </a:p>
          <a:p>
            <a:r>
              <a:rPr lang="ko-KR" sz="1300">
                <a:solidFill>
                  <a:srgbClr val="172033"/>
                </a:solidFill>
              </a:rPr>
              <a:t>mad_Latn, bam_Latn, kjb_Latn, quw_Latn, rap_Latn</a:t>
            </a:r>
          </a:p>
          <a:p>
            <a:r>
              <a:rPr lang="ko-KR" sz="1800">
                <a:solidFill>
                  <a:srgbClr val="172033"/>
                </a:solidFill>
              </a:rPr>
              <a:t>Source:</a:t>
            </a:r>
          </a:p>
          <a:p>
            <a:r>
              <a:rPr lang="ko-KR" sz="1300">
                <a:solidFill>
                  <a:srgbClr val="172033"/>
                </a:solidFill>
              </a:rPr>
              <a:t>docs/exp/v5/0_tokenizer/miscellaneous/glot50010_selected_manifest.tsv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85800" y="6320000"/>
            <a:ext cx="108204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900">
                <a:solidFill>
                  <a:srgbClr val="5C667A"/>
                </a:solidFill>
              </a:rPr>
              <a:t>Source: docs/exp/v5/4_reporting/02_slides/final_deck_ko.md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1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85800" y="310000"/>
            <a:ext cx="108204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300" b="1">
                <a:solidFill>
                  <a:srgbClr val="0F766E"/>
                </a:solidFill>
              </a:rPr>
              <a:t>v5 Glot500-style replay · 05/15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85800" y="650000"/>
            <a:ext cx="10820400" cy="7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85000" lnSpcReduction="20000"/>
          </a:bodyPr>
          <a:lstStyle/>
          <a:p>
            <a:r>
              <a:rPr lang="ko-KR" sz="3200" b="1">
                <a:solidFill>
                  <a:srgbClr val="0F3D3E"/>
                </a:solidFill>
              </a:rPr>
              <a:t>Corpus construction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1450000"/>
            <a:ext cx="10820400" cy="46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85000" lnSpcReduction="20000"/>
          </a:bodyPr>
          <a:lstStyle/>
          <a:p>
            <a:r>
              <a:rPr lang="ko-KR" sz="1800">
                <a:solidFill>
                  <a:srgbClr val="172033"/>
                </a:solidFill>
              </a:rPr>
              <a:t>Data scope는 고정됐다.</a:t>
            </a:r>
          </a:p>
          <a:p>
            <a:r>
              <a:rPr lang="ko-KR" sz="1800">
                <a:solidFill>
                  <a:srgbClr val="172033"/>
                </a:solidFill>
              </a:rPr>
              <a:t>Corpus snapshot:</a:t>
            </a:r>
          </a:p>
          <a:p>
            <a:r>
              <a:rPr lang="ko-KR" sz="1800">
                <a:solidFill>
                  <a:srgbClr val="172033"/>
                </a:solidFill>
              </a:rPr>
              <a:t>• seen languages: 92</a:t>
            </a:r>
          </a:p>
          <a:p>
            <a:r>
              <a:rPr lang="ko-KR" sz="1800">
                <a:solidFill>
                  <a:srgbClr val="172033"/>
                </a:solidFill>
              </a:rPr>
              <a:t>• target languages: 10</a:t>
            </a:r>
          </a:p>
          <a:p>
            <a:r>
              <a:rPr lang="ko-KR" sz="1800">
                <a:solidFill>
                  <a:srgbClr val="172033"/>
                </a:solidFill>
              </a:rPr>
              <a:t>• merged lines: 92,452,251</a:t>
            </a:r>
          </a:p>
          <a:p>
            <a:r>
              <a:rPr lang="ko-KR" sz="1800">
                <a:solidFill>
                  <a:srgbClr val="172033"/>
                </a:solidFill>
              </a:rPr>
              <a:t>• output size: 19G</a:t>
            </a:r>
          </a:p>
          <a:p>
            <a:r>
              <a:rPr lang="ko-KR" sz="1800">
                <a:solidFill>
                  <a:srgbClr val="172033"/>
                </a:solidFill>
              </a:rPr>
              <a:t>• missing language dirs: 0</a:t>
            </a:r>
          </a:p>
          <a:p>
            <a:r>
              <a:rPr lang="ko-KR" sz="1800">
                <a:solidFill>
                  <a:srgbClr val="172033"/>
                </a:solidFill>
              </a:rPr>
              <a:t>Claim:</a:t>
            </a:r>
          </a:p>
          <a:p>
            <a:r>
              <a:rPr lang="ko-KR" sz="1300">
                <a:solidFill>
                  <a:srgbClr val="172033"/>
                </a:solidFill>
              </a:rPr>
              <a:t>The 102-language corpus is reproducibly merged with no missing directories.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85800" y="6320000"/>
            <a:ext cx="108204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900">
                <a:solidFill>
                  <a:srgbClr val="5C667A"/>
                </a:solidFill>
              </a:rPr>
              <a:t>Source: docs/exp/v5/4_reporting/02_slides/final_deck_ko.md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1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85800" y="310000"/>
            <a:ext cx="108204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300" b="1">
                <a:solidFill>
                  <a:srgbClr val="0F766E"/>
                </a:solidFill>
              </a:rPr>
              <a:t>v5 Glot500-style replay · 06/15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85800" y="650000"/>
            <a:ext cx="10820400" cy="7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85000" lnSpcReduction="20000"/>
          </a:bodyPr>
          <a:lstStyle/>
          <a:p>
            <a:r>
              <a:rPr lang="ko-KR" sz="3200" b="1">
                <a:solidFill>
                  <a:srgbClr val="0F3D3E"/>
                </a:solidFill>
              </a:rPr>
              <a:t>Tokenizer method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1450000"/>
            <a:ext cx="10820400" cy="46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85000" lnSpcReduction="20000"/>
          </a:bodyPr>
          <a:lstStyle/>
          <a:p>
            <a:r>
              <a:rPr lang="ko-KR" sz="1800">
                <a:solidFill>
                  <a:srgbClr val="172033"/>
                </a:solidFill>
              </a:rPr>
              <a:t>v5는 Glot500-style SentencePiece append route를 따른다.</a:t>
            </a:r>
          </a:p>
          <a:p>
            <a:r>
              <a:rPr lang="ko-KR" sz="1800">
                <a:solidFill>
                  <a:srgbClr val="172033"/>
                </a:solidFill>
              </a:rPr>
              <a:t>• XLM-R SPM에 auxiliary SPM의 novel pieces를 append</a:t>
            </a:r>
          </a:p>
          <a:p>
            <a:r>
              <a:rPr lang="ko-KR" sz="1800">
                <a:solidFill>
                  <a:srgbClr val="172033"/>
                </a:solidFill>
              </a:rPr>
              <a:t>• extended HF tokens: 368,687</a:t>
            </a:r>
          </a:p>
          <a:p>
            <a:r>
              <a:rPr lang="ko-KR" sz="1800">
                <a:solidFill>
                  <a:srgbClr val="172033"/>
                </a:solidFill>
              </a:rPr>
              <a:t>• appended token strings: 118,685</a:t>
            </a:r>
          </a:p>
          <a:p>
            <a:r>
              <a:rPr lang="ko-KR" sz="1800">
                <a:solidFill>
                  <a:srgbClr val="172033"/>
                </a:solidFill>
              </a:rPr>
              <a:t>• &lt;mask&gt; id: 250001 -&gt; 368686</a:t>
            </a:r>
          </a:p>
          <a:p>
            <a:r>
              <a:rPr lang="ko-KR" sz="1800">
                <a:solidFill>
                  <a:srgbClr val="172033"/>
                </a:solidFill>
              </a:rPr>
              <a:t>Audit result:</a:t>
            </a:r>
          </a:p>
          <a:p>
            <a:r>
              <a:rPr lang="ko-KR" sz="1800">
                <a:solidFill>
                  <a:srgbClr val="172033"/>
                </a:solidFill>
              </a:rPr>
              <a:t>• 29/30 audited languages improved</a:t>
            </a:r>
          </a:p>
          <a:p>
            <a:r>
              <a:rPr lang="ko-KR" sz="1800">
                <a:solidFill>
                  <a:srgbClr val="172033"/>
                </a:solidFill>
              </a:rPr>
              <a:t>• target10: 9/10 improved</a:t>
            </a:r>
          </a:p>
          <a:p>
            <a:r>
              <a:rPr lang="ko-KR" sz="1800">
                <a:solidFill>
                  <a:srgbClr val="172033"/>
                </a:solidFill>
              </a:rPr>
              <a:t>• dzo_Tibt: 4.223938 -&gt; 5.552124 tokens/word로 악화</a:t>
            </a:r>
          </a:p>
          <a:p>
            <a:r>
              <a:rPr lang="ko-KR" sz="1800">
                <a:solidFill>
                  <a:srgbClr val="172033"/>
                </a:solidFill>
              </a:rPr>
              <a:t>Figure:</a:t>
            </a:r>
          </a:p>
          <a:p>
            <a:r>
              <a:rPr lang="ko-KR" sz="1300">
                <a:solidFill>
                  <a:srgbClr val="172033"/>
                </a:solidFill>
              </a:rPr>
              <a:t>docs/exp/v5/4_reporting/01_figures/generated/figure_02_tokenizer_fertility_delta.png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85800" y="6320000"/>
            <a:ext cx="108204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900">
                <a:solidFill>
                  <a:srgbClr val="5C667A"/>
                </a:solidFill>
              </a:rPr>
              <a:t>Source: docs/exp/v5/4_reporting/02_slides/final_deck_ko.md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1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85800" y="310000"/>
            <a:ext cx="108204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300" b="1">
                <a:solidFill>
                  <a:srgbClr val="0F766E"/>
                </a:solidFill>
              </a:rPr>
              <a:t>v5 Glot500-style replay · 07/15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85800" y="650000"/>
            <a:ext cx="10820400" cy="7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85000" lnSpcReduction="20000"/>
          </a:bodyPr>
          <a:lstStyle/>
          <a:p>
            <a:r>
              <a:rPr lang="ko-KR" sz="3200" b="1">
                <a:solidFill>
                  <a:srgbClr val="0F3D3E"/>
                </a:solidFill>
              </a:rPr>
              <a:t>Novelty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1450000"/>
            <a:ext cx="10820400" cy="46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85000" lnSpcReduction="20000"/>
          </a:bodyPr>
          <a:lstStyle/>
          <a:p>
            <a:r>
              <a:rPr lang="ko-KR" sz="1800">
                <a:solidFill>
                  <a:srgbClr val="172033"/>
                </a:solidFill>
              </a:rPr>
              <a:t>Novelty는 corpus가 아니라 appended vocabulary row initialization이다.</a:t>
            </a:r>
          </a:p>
          <a:p>
            <a:r>
              <a:rPr lang="ko-KR" sz="1800">
                <a:solidFill>
                  <a:srgbClr val="172033"/>
                </a:solidFill>
              </a:rPr>
              <a:t>Initialization arms:</a:t>
            </a:r>
          </a:p>
          <a:p>
            <a:r>
              <a:rPr lang="ko-KR" sz="1800">
                <a:solidFill>
                  <a:srgbClr val="172033"/>
                </a:solidFill>
              </a:rPr>
              <a:t>• random: HF default random resize, baseline</a:t>
            </a:r>
          </a:p>
          <a:p>
            <a:r>
              <a:rPr lang="ko-KR" sz="1800">
                <a:solidFill>
                  <a:srgbClr val="172033"/>
                </a:solidFill>
              </a:rPr>
              <a:t>• mean: source/global mean, stable ablation</a:t>
            </a:r>
          </a:p>
          <a:p>
            <a:r>
              <a:rPr lang="ko-KR" sz="1800">
                <a:solidFill>
                  <a:srgbClr val="172033"/>
                </a:solidFill>
              </a:rPr>
              <a:t>• fvt: source-token decomposition mean, main novelty</a:t>
            </a:r>
          </a:p>
          <a:p>
            <a:r>
              <a:rPr lang="ko-KR" sz="1800">
                <a:solidFill>
                  <a:srgbClr val="172033"/>
                </a:solidFill>
              </a:rPr>
              <a:t>• align: script-aware fallback, exploratory</a:t>
            </a:r>
          </a:p>
          <a:p>
            <a:r>
              <a:rPr lang="ko-KR" sz="1800">
                <a:solidFill>
                  <a:srgbClr val="172033"/>
                </a:solidFill>
              </a:rPr>
              <a:t>핵심 질문:</a:t>
            </a:r>
          </a:p>
          <a:p>
            <a:r>
              <a:rPr lang="ko-KR" sz="1300">
                <a:solidFill>
                  <a:srgbClr val="172033"/>
                </a:solidFill>
              </a:rPr>
              <a:t>new token row를 random으로 둘 것인가, 기존 tokenizer decomposition으로 초기화할 것인가?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85800" y="6320000"/>
            <a:ext cx="108204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900">
                <a:solidFill>
                  <a:srgbClr val="5C667A"/>
                </a:solidFill>
              </a:rPr>
              <a:t>Source: docs/exp/v5/4_reporting/02_slides/final_deck_ko.md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1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85800" y="310000"/>
            <a:ext cx="108204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300" b="1">
                <a:solidFill>
                  <a:srgbClr val="0F766E"/>
                </a:solidFill>
              </a:rPr>
              <a:t>v5 Glot500-style replay · 08/15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85800" y="650000"/>
            <a:ext cx="10820400" cy="7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85000" lnSpcReduction="20000"/>
          </a:bodyPr>
          <a:lstStyle/>
          <a:p>
            <a:r>
              <a:rPr lang="ko-KR" sz="3200" b="1">
                <a:solidFill>
                  <a:srgbClr val="0F3D3E"/>
                </a:solidFill>
              </a:rPr>
              <a:t>Initialization audit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1450000"/>
            <a:ext cx="10820400" cy="46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85000" lnSpcReduction="20000"/>
          </a:bodyPr>
          <a:lstStyle/>
          <a:p>
            <a:r>
              <a:rPr lang="ko-KR" sz="1800">
                <a:solidFill>
                  <a:srgbClr val="172033"/>
                </a:solidFill>
              </a:rPr>
              <a:t>초기화 비교는 row-copy correctness가 보장될 때만 의미가 있다.</a:t>
            </a:r>
          </a:p>
          <a:p>
            <a:r>
              <a:rPr lang="ko-KR" sz="1800">
                <a:solidFill>
                  <a:srgbClr val="172033"/>
                </a:solidFill>
              </a:rPr>
              <a:t>필수 audit:</a:t>
            </a:r>
          </a:p>
          <a:p>
            <a:r>
              <a:rPr lang="ko-KR" sz="1800">
                <a:solidFill>
                  <a:srgbClr val="172033"/>
                </a:solidFill>
              </a:rPr>
              <a:t>• source rows copied by token identity</a:t>
            </a:r>
          </a:p>
          <a:p>
            <a:r>
              <a:rPr lang="ko-KR" sz="1800">
                <a:solidFill>
                  <a:srgbClr val="172033"/>
                </a:solidFill>
              </a:rPr>
              <a:t>• &lt;mask&gt; row remapped explicitly</a:t>
            </a:r>
          </a:p>
          <a:p>
            <a:r>
              <a:rPr lang="ko-KR" sz="1800">
                <a:solidFill>
                  <a:srgbClr val="172033"/>
                </a:solidFill>
              </a:rPr>
              <a:t>• byte fallback rows separated</a:t>
            </a:r>
          </a:p>
          <a:p>
            <a:r>
              <a:rPr lang="ko-KR" sz="1800">
                <a:solidFill>
                  <a:srgbClr val="172033"/>
                </a:solidFill>
              </a:rPr>
              <a:t>• LM head tying verified</a:t>
            </a:r>
          </a:p>
          <a:p>
            <a:r>
              <a:rPr lang="ko-KR" sz="1800">
                <a:solidFill>
                  <a:srgbClr val="172033"/>
                </a:solidFill>
              </a:rPr>
              <a:t>Main FVT audit:</a:t>
            </a:r>
          </a:p>
          <a:p>
            <a:r>
              <a:rPr lang="ko-KR" sz="1800">
                <a:solidFill>
                  <a:srgbClr val="172033"/>
                </a:solidFill>
              </a:rPr>
              <a:t>• source identity rows: 250,002</a:t>
            </a:r>
          </a:p>
          <a:p>
            <a:r>
              <a:rPr lang="ko-KR" sz="1800">
                <a:solidFill>
                  <a:srgbClr val="172033"/>
                </a:solidFill>
              </a:rPr>
              <a:t>• FVT rows: 118,427</a:t>
            </a:r>
          </a:p>
          <a:p>
            <a:r>
              <a:rPr lang="ko-KR" sz="1800">
                <a:solidFill>
                  <a:srgbClr val="172033"/>
                </a:solidFill>
              </a:rPr>
              <a:t>• byte/global-mean rows: 256</a:t>
            </a:r>
          </a:p>
          <a:p>
            <a:r>
              <a:rPr lang="ko-KR" sz="1800">
                <a:solidFill>
                  <a:srgbClr val="172033"/>
                </a:solidFill>
              </a:rPr>
              <a:t>• lexical fallback rows: 2</a:t>
            </a:r>
          </a:p>
          <a:p>
            <a:r>
              <a:rPr lang="ko-KR" sz="1800">
                <a:solidFill>
                  <a:srgbClr val="172033"/>
                </a:solidFill>
              </a:rPr>
              <a:t>• &lt;mask&gt; max abs diff: 0.0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85800" y="6320000"/>
            <a:ext cx="108204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900">
                <a:solidFill>
                  <a:srgbClr val="5C667A"/>
                </a:solidFill>
              </a:rPr>
              <a:t>Source: docs/exp/v5/4_reporting/02_slides/final_deck_ko.md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1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85800" y="310000"/>
            <a:ext cx="108204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300" b="1">
                <a:solidFill>
                  <a:srgbClr val="0F766E"/>
                </a:solidFill>
              </a:rPr>
              <a:t>v5 Glot500-style replay · 09/15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85800" y="650000"/>
            <a:ext cx="10820400" cy="7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85000" lnSpcReduction="20000"/>
          </a:bodyPr>
          <a:lstStyle/>
          <a:p>
            <a:r>
              <a:rPr lang="ko-KR" sz="3200" b="1">
                <a:solidFill>
                  <a:srgbClr val="0F3D3E"/>
                </a:solidFill>
              </a:rPr>
              <a:t>Zero-step evidence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1450000"/>
            <a:ext cx="10820400" cy="46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85000" lnSpcReduction="20000"/>
          </a:bodyPr>
          <a:lstStyle/>
          <a:p>
            <a:r>
              <a:rPr lang="ko-KR" sz="1800">
                <a:solidFill>
                  <a:srgbClr val="172033"/>
                </a:solidFill>
              </a:rPr>
              <a:t>FVT는 training 전 target MLM proxy에서 가장 좋다.</a:t>
            </a:r>
          </a:p>
          <a:p>
            <a:r>
              <a:rPr lang="ko-KR" sz="1800">
                <a:solidFill>
                  <a:srgbClr val="172033"/>
                </a:solidFill>
              </a:rPr>
              <a:t>Zero-step target weighted NLL:</a:t>
            </a:r>
          </a:p>
          <a:p>
            <a:r>
              <a:rPr lang="ko-KR" sz="1800">
                <a:solidFill>
                  <a:srgbClr val="172033"/>
                </a:solidFill>
              </a:rPr>
              <a:t>• random: 18.411756</a:t>
            </a:r>
          </a:p>
          <a:p>
            <a:r>
              <a:rPr lang="ko-KR" sz="1800">
                <a:solidFill>
                  <a:srgbClr val="172033"/>
                </a:solidFill>
              </a:rPr>
              <a:t>• mean: 11.953142</a:t>
            </a:r>
          </a:p>
          <a:p>
            <a:r>
              <a:rPr lang="ko-KR" sz="1800">
                <a:solidFill>
                  <a:srgbClr val="172033"/>
                </a:solidFill>
              </a:rPr>
              <a:t>• fvt: 8.785518</a:t>
            </a:r>
          </a:p>
          <a:p>
            <a:r>
              <a:rPr lang="ko-KR" sz="1800">
                <a:solidFill>
                  <a:srgbClr val="172033"/>
                </a:solidFill>
              </a:rPr>
              <a:t>FVT vs random:</a:t>
            </a:r>
          </a:p>
          <a:p>
            <a:r>
              <a:rPr lang="ko-KR" sz="1800">
                <a:solidFill>
                  <a:srgbClr val="172033"/>
                </a:solidFill>
              </a:rPr>
              <a:t>• target: -9.626238 NLL</a:t>
            </a:r>
          </a:p>
          <a:p>
            <a:r>
              <a:rPr lang="ko-KR" sz="1800">
                <a:solidFill>
                  <a:srgbClr val="172033"/>
                </a:solidFill>
              </a:rPr>
              <a:t>• relative reduction: 52.28%</a:t>
            </a:r>
          </a:p>
          <a:p>
            <a:r>
              <a:rPr lang="ko-KR" sz="1800">
                <a:solidFill>
                  <a:srgbClr val="172033"/>
                </a:solidFill>
              </a:rPr>
              <a:t>주의:</a:t>
            </a:r>
          </a:p>
          <a:p>
            <a:r>
              <a:rPr lang="ko-KR" sz="1300">
                <a:solidFill>
                  <a:srgbClr val="172033"/>
                </a:solidFill>
              </a:rPr>
              <a:t>This is intrinsic zero-step evidence, not after-MLM or downstream proof.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85800" y="6320000"/>
            <a:ext cx="108204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900">
                <a:solidFill>
                  <a:srgbClr val="5C667A"/>
                </a:solidFill>
              </a:rPr>
              <a:t>Source: docs/exp/v5/4_reporting/02_slides/final_deck_ko.md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1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85800" y="310000"/>
            <a:ext cx="108204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300" b="1">
                <a:solidFill>
                  <a:srgbClr val="0F766E"/>
                </a:solidFill>
              </a:rPr>
              <a:t>v5 Glot500-style replay · 10/15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85800" y="650000"/>
            <a:ext cx="10820400" cy="7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85000" lnSpcReduction="20000"/>
          </a:bodyPr>
          <a:lstStyle/>
          <a:p>
            <a:r>
              <a:rPr lang="ko-KR" sz="3200" b="1">
                <a:solidFill>
                  <a:srgbClr val="0F3D3E"/>
                </a:solidFill>
              </a:rPr>
              <a:t>Training setup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1450000"/>
            <a:ext cx="10820400" cy="46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85000" lnSpcReduction="20000"/>
          </a:bodyPr>
          <a:lstStyle/>
          <a:p>
            <a:r>
              <a:rPr lang="ko-KR" sz="1800">
                <a:solidFill>
                  <a:srgbClr val="172033"/>
                </a:solidFill>
              </a:rPr>
              <a:t>Main method claim은 matched MLM checkpoint 이후에만 열린다.</a:t>
            </a:r>
          </a:p>
          <a:p>
            <a:r>
              <a:rPr lang="ko-KR" sz="1800">
                <a:solidFill>
                  <a:srgbClr val="172033"/>
                </a:solidFill>
              </a:rPr>
              <a:t>Fixed comparison:</a:t>
            </a:r>
          </a:p>
          <a:p>
            <a:r>
              <a:rPr lang="ko-KR" sz="1800">
                <a:solidFill>
                  <a:srgbClr val="172033"/>
                </a:solidFill>
              </a:rPr>
              <a:t>• model: XLM-R-base initialized with v5 tokenizer</a:t>
            </a:r>
          </a:p>
          <a:p>
            <a:r>
              <a:rPr lang="ko-KR" sz="1800">
                <a:solidFill>
                  <a:srgbClr val="172033"/>
                </a:solidFill>
              </a:rPr>
              <a:t>• methods: v5_random vs v5_fvt</a:t>
            </a:r>
          </a:p>
          <a:p>
            <a:r>
              <a:rPr lang="ko-KR" sz="1800">
                <a:solidFill>
                  <a:srgbClr val="172033"/>
                </a:solidFill>
              </a:rPr>
              <a:t>• corpus/tokenizer/schedule/checkpoint rule 동일</a:t>
            </a:r>
          </a:p>
          <a:p>
            <a:r>
              <a:rPr lang="ko-KR" sz="1800">
                <a:solidFill>
                  <a:srgbClr val="172033"/>
                </a:solidFill>
              </a:rPr>
              <a:t>• max steps: 10,000</a:t>
            </a:r>
          </a:p>
          <a:p>
            <a:r>
              <a:rPr lang="ko-KR" sz="1800">
                <a:solidFill>
                  <a:srgbClr val="172033"/>
                </a:solidFill>
              </a:rPr>
              <a:t>• selected checkpoint: both 10K rows required</a:t>
            </a:r>
          </a:p>
          <a:p>
            <a:r>
              <a:rPr lang="ko-KR" sz="1800">
                <a:solidFill>
                  <a:srgbClr val="172033"/>
                </a:solidFill>
              </a:rPr>
              <a:t>Current gate:</a:t>
            </a:r>
          </a:p>
          <a:p>
            <a:r>
              <a:rPr lang="ko-KR" sz="1300">
                <a:solidFill>
                  <a:srgbClr val="172033"/>
                </a:solidFill>
              </a:rPr>
              <a:t>v5_random_mlm_10k: selected 10K checkpoint ready</a:t>
            </a:r>
          </a:p>
          <a:p>
            <a:r>
              <a:rPr lang="ko-KR" sz="1300">
                <a:solidFill>
                  <a:srgbClr val="172033"/>
                </a:solidFill>
              </a:rPr>
              <a:t>v5_fvt_mlm_10k: running, model file pending</a:t>
            </a:r>
          </a:p>
          <a:p>
            <a:r>
              <a:rPr lang="ko-KR" sz="1300">
                <a:solidFill>
                  <a:srgbClr val="172033"/>
                </a:solidFill>
              </a:rPr>
              <a:t>post-checkpoint evaluation: locked until wrapper-ready + preflight</a:t>
            </a:r>
          </a:p>
          <a:p>
            <a:r>
              <a:rPr lang="ko-KR" sz="1800">
                <a:solidFill>
                  <a:srgbClr val="172033"/>
                </a:solidFill>
              </a:rPr>
              <a:t>Source:</a:t>
            </a:r>
          </a:p>
          <a:p>
            <a:r>
              <a:rPr lang="ko-KR" sz="1300">
                <a:solidFill>
                  <a:srgbClr val="172033"/>
                </a:solidFill>
              </a:rPr>
              <a:t>docs/exp/v5/3_evaluation/running_status.md</a:t>
            </a:r>
          </a:p>
          <a:p>
            <a:r>
              <a:rPr lang="ko-KR" sz="1300">
                <a:solidFill>
                  <a:srgbClr val="172033"/>
                </a:solidFill>
              </a:rPr>
              <a:t>docs/exp/v5/2_training/mlm_progress_eta.md</a:t>
            </a:r>
          </a:p>
          <a:p>
            <a:r>
              <a:rPr lang="ko-KR" sz="1800">
                <a:solidFill>
                  <a:srgbClr val="172033"/>
                </a:solidFill>
              </a:rPr>
              <a:t>Speaker guard:</a:t>
            </a:r>
          </a:p>
          <a:p>
            <a:r>
              <a:rPr lang="ko-KR" sz="1300">
                <a:solidFill>
                  <a:srgbClr val="172033"/>
                </a:solidFill>
              </a:rPr>
              <a:t>Live progress is not a model result; it only keeps the checkpoint gate honest.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85800" y="6320000"/>
            <a:ext cx="108204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900">
                <a:solidFill>
                  <a:srgbClr val="5C667A"/>
                </a:solidFill>
              </a:rPr>
              <a:t>Source: docs/exp/v5/4_reporting/02_slides/final_deck_ko.md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1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85800" y="310000"/>
            <a:ext cx="108204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300" b="1">
                <a:solidFill>
                  <a:srgbClr val="0F766E"/>
                </a:solidFill>
              </a:rPr>
              <a:t>v5 Glot500-style replay · 11/15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85800" y="650000"/>
            <a:ext cx="10820400" cy="7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85000" lnSpcReduction="20000"/>
          </a:bodyPr>
          <a:lstStyle/>
          <a:p>
            <a:r>
              <a:rPr lang="ko-KR" sz="3200" b="1">
                <a:solidFill>
                  <a:srgbClr val="0F3D3E"/>
                </a:solidFill>
              </a:rPr>
              <a:t>Glot500 metrics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1450000"/>
            <a:ext cx="10820400" cy="46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85000" lnSpcReduction="20000"/>
          </a:bodyPr>
          <a:lstStyle/>
          <a:p>
            <a:r>
              <a:rPr lang="ko-KR" sz="1800">
                <a:solidFill>
                  <a:srgbClr val="172033"/>
                </a:solidFill>
              </a:rPr>
              <a:t>Glot500에서 측정한 metric family를 모두 유지한다.</a:t>
            </a:r>
          </a:p>
          <a:p>
            <a:r>
              <a:rPr lang="ko-KR" sz="1800">
                <a:solidFill>
                  <a:srgbClr val="172033"/>
                </a:solidFill>
              </a:rPr>
              <a:t>local coverage and target10 coverage:</a:t>
            </a:r>
          </a:p>
          <a:p>
            <a:r>
              <a:rPr lang="ko-KR" sz="1800">
                <a:solidFill>
                  <a:srgbClr val="172033"/>
                </a:solidFill>
              </a:rPr>
              <a:t>• PPPL / MLM proxy: 102/102 local, target10 10/10</a:t>
            </a:r>
          </a:p>
          <a:p>
            <a:r>
              <a:rPr lang="ko-KR" sz="1800">
                <a:solidFill>
                  <a:srgbClr val="172033"/>
                </a:solidFill>
              </a:rPr>
              <a:t>• Tatoeba retrieval: 63/102 local, target10 0/10</a:t>
            </a:r>
          </a:p>
          <a:p>
            <a:r>
              <a:rPr lang="ko-KR" sz="1800">
                <a:solidFill>
                  <a:srgbClr val="172033"/>
                </a:solidFill>
              </a:rPr>
              <a:t>• Bible retrieval and Roundtrip alignment: 74/102 local, target10 0/10</a:t>
            </a:r>
          </a:p>
          <a:p>
            <a:r>
              <a:rPr lang="ko-KR" sz="1800">
                <a:solidFill>
                  <a:srgbClr val="172033"/>
                </a:solidFill>
              </a:rPr>
              <a:t>• Text classification: 1/102 local, target10 0/10</a:t>
            </a:r>
          </a:p>
          <a:p>
            <a:r>
              <a:rPr lang="ko-KR" sz="1800">
                <a:solidFill>
                  <a:srgbClr val="172033"/>
                </a:solidFill>
              </a:rPr>
              <a:t>• NER/POS: 78/102 audit and 58/102 local, target10 0/10</a:t>
            </a:r>
          </a:p>
          <a:p>
            <a:r>
              <a:rPr lang="ko-KR" sz="1800">
                <a:solidFill>
                  <a:srgbClr val="172033"/>
                </a:solidFill>
              </a:rPr>
              <a:t>• v5 random PPPL/Tatoeba/Bible/Taxi1500/NER/POS/Roundtrip rows: measured;</a:t>
            </a:r>
          </a:p>
          <a:p>
            <a:r>
              <a:rPr lang="ko-KR" sz="1800">
                <a:solidFill>
                  <a:srgbClr val="172033"/>
                </a:solidFill>
              </a:rPr>
              <a:t>FVT rows wait for matched checkpoints</a:t>
            </a:r>
          </a:p>
          <a:p>
            <a:r>
              <a:rPr lang="ko-KR" sz="1800">
                <a:solidFill>
                  <a:srgbClr val="172033"/>
                </a:solidFill>
              </a:rPr>
              <a:t>Coverage principle:</a:t>
            </a:r>
          </a:p>
          <a:p>
            <a:r>
              <a:rPr lang="ko-KR" sz="1300">
                <a:solidFill>
                  <a:srgbClr val="172033"/>
                </a:solidFill>
              </a:rPr>
              <a:t>missing task coverage is reported, not silently dropped.</a:t>
            </a:r>
          </a:p>
          <a:p>
            <a:r>
              <a:rPr lang="ko-KR" sz="1800">
                <a:solidFill>
                  <a:srgbClr val="172033"/>
                </a:solidFill>
              </a:rPr>
              <a:t>Source:</a:t>
            </a:r>
          </a:p>
          <a:p>
            <a:r>
              <a:rPr lang="ko-KR" sz="1300">
                <a:solidFill>
                  <a:srgbClr val="172033"/>
                </a:solidFill>
              </a:rPr>
              <a:t>docs/exp/v5/4_reporting/00_tables/table_13_metric_fidelity_matrix.md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85800" y="6320000"/>
            <a:ext cx="108204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900">
                <a:solidFill>
                  <a:srgbClr val="5C667A"/>
                </a:solidFill>
              </a:rPr>
              <a:t>Source: docs/exp/v5/4_reporting/02_slides/final_deck_ko.md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1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85800" y="310000"/>
            <a:ext cx="108204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300" b="1">
                <a:solidFill>
                  <a:srgbClr val="0F766E"/>
                </a:solidFill>
              </a:rPr>
              <a:t>v5 Glot500-style replay · 12/15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85800" y="650000"/>
            <a:ext cx="10820400" cy="7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85000" lnSpcReduction="20000"/>
          </a:bodyPr>
          <a:lstStyle/>
          <a:p>
            <a:r>
              <a:rPr lang="ko-KR" sz="3200" b="1">
                <a:solidFill>
                  <a:srgbClr val="0F3D3E"/>
                </a:solidFill>
              </a:rPr>
              <a:t>Current measured rows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1450000"/>
            <a:ext cx="10820400" cy="46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85000" lnSpcReduction="20000"/>
          </a:bodyPr>
          <a:lstStyle/>
          <a:p>
            <a:r>
              <a:rPr lang="ko-KR" sz="1800">
                <a:solidFill>
                  <a:srgbClr val="172033"/>
                </a:solidFill>
              </a:rPr>
              <a:t>현재는 baseline/reference rows와 v5-random PPPL/downstream rows가 측정됐고, FVT method claim은 checkpoint 대기다.</a:t>
            </a:r>
          </a:p>
          <a:p>
            <a:r>
              <a:rPr lang="ko-KR" sz="1800">
                <a:solidFill>
                  <a:srgbClr val="172033"/>
                </a:solidFill>
              </a:rPr>
              <a:t>Measured baseline/reference rows:</a:t>
            </a:r>
          </a:p>
          <a:p>
            <a:r>
              <a:rPr lang="ko-KR" sz="1800">
                <a:solidFill>
                  <a:srgbClr val="172033"/>
                </a:solidFill>
              </a:rPr>
              <a:t>• target PPPL: XLM-R 61.980216; Glot500-base 15.102934</a:t>
            </a:r>
          </a:p>
          <a:p>
            <a:r>
              <a:rPr lang="ko-KR" sz="1800">
                <a:solidFill>
                  <a:srgbClr val="172033"/>
                </a:solidFill>
              </a:rPr>
              <a:t>• v5-random PPPL: target 39.222875; head 18.726452; all 20.138927</a:t>
            </a:r>
          </a:p>
          <a:p>
            <a:r>
              <a:rPr lang="ko-KR" sz="1800">
                <a:solidFill>
                  <a:srgbClr val="172033"/>
                </a:solidFill>
              </a:rPr>
              <a:t>• Tatoeba all Top-10: XLM-R 0.566067; Glot500-base 0.706649; v5-random 0.610353</a:t>
            </a:r>
          </a:p>
          <a:p>
            <a:r>
              <a:rPr lang="ko-KR" sz="1800">
                <a:solidFill>
                  <a:srgbClr val="172033"/>
                </a:solidFill>
              </a:rPr>
              <a:t>• Bible all Top-10: XLM-R 0.381153; Glot500-base 0.509356; v5-random 0.328019</a:t>
            </a:r>
          </a:p>
          <a:p>
            <a:r>
              <a:rPr lang="ko-KR" sz="1800">
                <a:solidFill>
                  <a:srgbClr val="172033"/>
                </a:solidFill>
              </a:rPr>
              <a:t>• Taxi1500 macro-F1: XLM-R 0.592876; Glot500-base 0.743338; v5-random 0.702956</a:t>
            </a:r>
          </a:p>
          <a:p>
            <a:r>
              <a:rPr lang="ko-KR" sz="1800">
                <a:solidFill>
                  <a:srgbClr val="172033"/>
                </a:solidFill>
              </a:rPr>
              <a:t>• NER all F1: XLM-R 0.549858; Glot500-base 0.627108; v5-random 0.544628</a:t>
            </a:r>
          </a:p>
          <a:p>
            <a:r>
              <a:rPr lang="ko-KR" sz="1800">
                <a:solidFill>
                  <a:srgbClr val="172033"/>
                </a:solidFill>
              </a:rPr>
              <a:t>• POS all F1: XLM-R 0.481336; Glot500-base 0.567542; v5-random 0.481102</a:t>
            </a:r>
          </a:p>
          <a:p>
            <a:r>
              <a:rPr lang="ko-KR" sz="1800">
                <a:solidFill>
                  <a:srgbClr val="172033"/>
                </a:solidFill>
              </a:rPr>
              <a:t>• Roundtrip acc.: XLM-R 0.185300; Glot500-base 0.205189; v5-random 0.190300</a:t>
            </a:r>
          </a:p>
          <a:p>
            <a:r>
              <a:rPr lang="ko-KR" sz="1800">
                <a:solidFill>
                  <a:srgbClr val="172033"/>
                </a:solidFill>
              </a:rPr>
              <a:t>Interpretation:</a:t>
            </a:r>
          </a:p>
          <a:p>
            <a:r>
              <a:rPr lang="ko-KR" sz="1300">
                <a:solidFill>
                  <a:srgbClr val="172033"/>
                </a:solidFill>
              </a:rPr>
              <a:t>v5-random is a diagnostic row, not a method win.</a:t>
            </a:r>
          </a:p>
          <a:p>
            <a:r>
              <a:rPr lang="ko-KR" sz="1300">
                <a:solidFill>
                  <a:srgbClr val="172033"/>
                </a:solidFill>
              </a:rPr>
              <a:t>The decisive comparison is matched v5-random vs v5-FVT after the same 10K MLM budget.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85800" y="6320000"/>
            <a:ext cx="108204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900">
                <a:solidFill>
                  <a:srgbClr val="5C667A"/>
                </a:solidFill>
              </a:rPr>
              <a:t>Source: docs/exp/v5/4_reporting/02_slides/final_deck_ko.md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1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85800" y="310000"/>
            <a:ext cx="108204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300" b="1">
                <a:solidFill>
                  <a:srgbClr val="0F766E"/>
                </a:solidFill>
              </a:rPr>
              <a:t>v5 Glot500-style replay · 13/15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85800" y="650000"/>
            <a:ext cx="10820400" cy="7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85000" lnSpcReduction="20000"/>
          </a:bodyPr>
          <a:lstStyle/>
          <a:p>
            <a:r>
              <a:rPr lang="ko-KR" sz="3200" b="1">
                <a:solidFill>
                  <a:srgbClr val="0F3D3E"/>
                </a:solidFill>
              </a:rPr>
              <a:t>Coverage and limitations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1450000"/>
            <a:ext cx="10820400" cy="46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85000" lnSpcReduction="20000"/>
          </a:bodyPr>
          <a:lstStyle/>
          <a:p>
            <a:r>
              <a:rPr lang="ko-KR" sz="1800">
                <a:solidFill>
                  <a:srgbClr val="172033"/>
                </a:solidFill>
              </a:rPr>
              <a:t>Target10 downstream coverage는 현재 PPPL 중심이다.</a:t>
            </a:r>
          </a:p>
          <a:p>
            <a:r>
              <a:rPr lang="ko-KR" sz="1800">
                <a:solidFill>
                  <a:srgbClr val="172033"/>
                </a:solidFill>
              </a:rPr>
              <a:t>• PPPL target10 coverage: 10/10; retained downstream target10 coverage: 0/10</a:t>
            </a:r>
          </a:p>
          <a:p>
            <a:r>
              <a:rPr lang="ko-KR" sz="1800">
                <a:solidFill>
                  <a:srgbClr val="172033"/>
                </a:solidFill>
              </a:rPr>
              <a:t>• NER target row is actual evaluated intersection, not target10-wide evidence</a:t>
            </a:r>
          </a:p>
          <a:p>
            <a:r>
              <a:rPr lang="ko-KR" sz="1800">
                <a:solidFill>
                  <a:srgbClr val="172033"/>
                </a:solidFill>
              </a:rPr>
              <a:t>• Roundtrip은 74/102 available-language 기준 XLM-R/Glot500-base/v5-random 측정 완료,</a:t>
            </a:r>
          </a:p>
          <a:p>
            <a:r>
              <a:rPr lang="ko-KR" sz="1800">
                <a:solidFill>
                  <a:srgbClr val="172033"/>
                </a:solidFill>
              </a:rPr>
              <a:t>FVT row는 checkpoint 대기</a:t>
            </a:r>
          </a:p>
          <a:p>
            <a:r>
              <a:rPr lang="ko-KR" sz="1800">
                <a:solidFill>
                  <a:srgbClr val="172033"/>
                </a:solidFill>
              </a:rPr>
              <a:t>• dzo_Tibt tokenizer regression remains visible</a:t>
            </a:r>
          </a:p>
          <a:p>
            <a:r>
              <a:rPr lang="ko-KR" sz="1800">
                <a:solidFill>
                  <a:srgbClr val="172033"/>
                </a:solidFill>
              </a:rPr>
              <a:t>Conclusion boundary:</a:t>
            </a:r>
          </a:p>
          <a:p>
            <a:r>
              <a:rPr lang="ko-KR" sz="1300">
                <a:solidFill>
                  <a:srgbClr val="172033"/>
                </a:solidFill>
              </a:rPr>
              <a:t>target10 downstream improvement is not a supported claim yet.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85800" y="6320000"/>
            <a:ext cx="108204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900">
                <a:solidFill>
                  <a:srgbClr val="5C667A"/>
                </a:solidFill>
              </a:rPr>
              <a:t>Source: docs/exp/v5/4_reporting/02_slides/final_deck_ko.md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1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85800" y="310000"/>
            <a:ext cx="108204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300" b="1">
                <a:solidFill>
                  <a:srgbClr val="0F766E"/>
                </a:solidFill>
              </a:rPr>
              <a:t>v5 Glot500-style replay · 14/15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85800" y="650000"/>
            <a:ext cx="10820400" cy="7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85000" lnSpcReduction="20000"/>
          </a:bodyPr>
          <a:lstStyle/>
          <a:p>
            <a:r>
              <a:rPr lang="ko-KR" sz="3200" b="1">
                <a:solidFill>
                  <a:srgbClr val="0F3D3E"/>
                </a:solidFill>
              </a:rPr>
              <a:t>Conclusion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1450000"/>
            <a:ext cx="10820400" cy="46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85000" lnSpcReduction="20000"/>
          </a:bodyPr>
          <a:lstStyle/>
          <a:p>
            <a:r>
              <a:rPr lang="ko-KR" sz="1800">
                <a:solidFill>
                  <a:srgbClr val="172033"/>
                </a:solidFill>
              </a:rPr>
              <a:t>현재 확정 결론은 setup fidelity + zero-step novelty이다.</a:t>
            </a:r>
          </a:p>
          <a:p>
            <a:r>
              <a:rPr lang="ko-KR" sz="1800">
                <a:solidFill>
                  <a:srgbClr val="172033"/>
                </a:solidFill>
              </a:rPr>
              <a:t>Can say now:</a:t>
            </a:r>
          </a:p>
          <a:p>
            <a:r>
              <a:rPr lang="ko-KR" sz="1800">
                <a:solidFill>
                  <a:srgbClr val="172033"/>
                </a:solidFill>
              </a:rPr>
              <a:t>• v5 reproduces the Glot500-style workflow on a controlled 102-language subset.</a:t>
            </a:r>
          </a:p>
          <a:p>
            <a:r>
              <a:rPr lang="ko-KR" sz="1800">
                <a:solidFill>
                  <a:srgbClr val="172033"/>
                </a:solidFill>
              </a:rPr>
              <a:t>• tokenizer expansion and initialization audits are complete.</a:t>
            </a:r>
          </a:p>
          <a:p>
            <a:r>
              <a:rPr lang="ko-KR" sz="1800">
                <a:solidFill>
                  <a:srgbClr val="172033"/>
                </a:solidFill>
              </a:rPr>
              <a:t>• FVT strongly improves zero-step target MLM proxy over random resize.</a:t>
            </a:r>
          </a:p>
          <a:p>
            <a:r>
              <a:rPr lang="ko-KR" sz="1800">
                <a:solidFill>
                  <a:srgbClr val="172033"/>
                </a:solidFill>
              </a:rPr>
              <a:t>• all Glot500 metric families are retained with coverage/blocker accounting.</a:t>
            </a:r>
          </a:p>
          <a:p>
            <a:r>
              <a:rPr lang="ko-KR" sz="1800">
                <a:solidFill>
                  <a:srgbClr val="172033"/>
                </a:solidFill>
              </a:rPr>
              <a:t>Cannot say yet:</a:t>
            </a:r>
          </a:p>
          <a:p>
            <a:r>
              <a:rPr lang="ko-KR" sz="1800">
                <a:solidFill>
                  <a:srgbClr val="172033"/>
                </a:solidFill>
              </a:rPr>
              <a:t>• FVT improves after-MLM PPPL.</a:t>
            </a:r>
          </a:p>
          <a:p>
            <a:r>
              <a:rPr lang="ko-KR" sz="1800">
                <a:solidFill>
                  <a:srgbClr val="172033"/>
                </a:solidFill>
              </a:rPr>
              <a:t>• FVT improves downstream performance.</a:t>
            </a:r>
          </a:p>
          <a:p>
            <a:r>
              <a:rPr lang="ko-KR" sz="1800">
                <a:solidFill>
                  <a:srgbClr val="172033"/>
                </a:solidFill>
              </a:rPr>
              <a:t>• target10 downstream improves.</a:t>
            </a:r>
          </a:p>
          <a:p>
            <a:r>
              <a:rPr lang="ko-KR" sz="1800">
                <a:solidFill>
                  <a:srgbClr val="172033"/>
                </a:solidFill>
              </a:rPr>
              <a:t>Final conclusion source:</a:t>
            </a:r>
          </a:p>
          <a:p>
            <a:r>
              <a:rPr lang="ko-KR" sz="1300">
                <a:solidFill>
                  <a:srgbClr val="172033"/>
                </a:solidFill>
              </a:rPr>
              <a:t>docs/exp/v5/4_reporting/final_claim_decision_tree.md</a:t>
            </a:r>
          </a:p>
          <a:p>
            <a:r>
              <a:rPr lang="ko-KR" sz="1300">
                <a:solidFill>
                  <a:srgbClr val="172033"/>
                </a:solidFill>
              </a:rPr>
              <a:t>docs/exp/v5/4_reporting/post_checkpoint_outcome_matrix_ko.md</a:t>
            </a:r>
          </a:p>
          <a:p>
            <a:r>
              <a:rPr lang="ko-KR" sz="1300">
                <a:solidFill>
                  <a:srgbClr val="172033"/>
                </a:solidFill>
              </a:rPr>
              <a:t>docs/exp/v5/4_reporting/post_result_patch_plan_ko.md</a:t>
            </a:r>
          </a:p>
          <a:p>
            <a:r>
              <a:rPr lang="ko-KR" sz="1300">
                <a:solidFill>
                  <a:srgbClr val="172033"/>
                </a:solidFill>
              </a:rPr>
              <a:t>docs/exp/v5/4_reporting/final_claim_freeze_audit.md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85800" y="6320000"/>
            <a:ext cx="108204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900">
                <a:solidFill>
                  <a:srgbClr val="5C667A"/>
                </a:solidFill>
              </a:rPr>
              <a:t>Source: docs/exp/v5/4_reporting/02_slides/final_deck_ko.md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15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85800" y="310000"/>
            <a:ext cx="108204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300" b="1">
                <a:solidFill>
                  <a:srgbClr val="0F766E"/>
                </a:solidFill>
              </a:rPr>
              <a:t>v5 Glot500-style replay · 15/15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85800" y="650000"/>
            <a:ext cx="10820400" cy="7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85000" lnSpcReduction="20000"/>
          </a:bodyPr>
          <a:lstStyle/>
          <a:p>
            <a:r>
              <a:rPr lang="ko-KR" sz="3200" b="1">
                <a:solidFill>
                  <a:srgbClr val="0F3D3E"/>
                </a:solidFill>
              </a:rPr>
              <a:t>Backup: execution path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1450000"/>
            <a:ext cx="10820400" cy="46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85000" lnSpcReduction="20000"/>
          </a:bodyPr>
          <a:lstStyle/>
          <a:p>
            <a:r>
              <a:rPr lang="ko-KR" sz="1800">
                <a:solidFill>
                  <a:srgbClr val="172033"/>
                </a:solidFill>
              </a:rPr>
              <a:t>Checkpoint 이후 실행선</a:t>
            </a:r>
          </a:p>
          <a:p>
            <a:r>
              <a:rPr lang="ko-KR" sz="1300">
                <a:solidFill>
                  <a:srgbClr val="172033"/>
                </a:solidFill>
              </a:rPr>
              <a:t>bash scripts/run_v5_post_checkpoint_evals.sh status</a:t>
            </a:r>
          </a:p>
          <a:p>
            <a:r>
              <a:rPr lang="ko-KR" sz="1300">
                <a:solidFill>
                  <a:srgbClr val="172033"/>
                </a:solidFill>
              </a:rPr>
              <a:t>SKIP_MEASURED=1 WITH_PLOTS=1 GPU_RANDOM=0 GPU_FVT=1 bash scripts/run_v5_post_checkpoint_evals.sh all</a:t>
            </a:r>
          </a:p>
          <a:p>
            <a:r>
              <a:rPr lang="ko-KR" sz="1300">
                <a:solidFill>
                  <a:srgbClr val="172033"/>
                </a:solidFill>
              </a:rPr>
              <a:t>python3 scripts/refresh_v5_reporting.py --with-plots</a:t>
            </a:r>
          </a:p>
          <a:p>
            <a:r>
              <a:rPr lang="ko-KR" sz="1300">
                <a:solidFill>
                  <a:srgbClr val="172033"/>
                </a:solidFill>
              </a:rPr>
              <a:t>sed -n '1,120p' docs/exp/v5/4_reporting/post_result_patch_plan_ko.md</a:t>
            </a:r>
          </a:p>
          <a:p>
            <a:r>
              <a:rPr lang="ko-KR" sz="1800">
                <a:solidFill>
                  <a:srgbClr val="172033"/>
                </a:solidFill>
              </a:rPr>
              <a:t>Audit files:</a:t>
            </a:r>
          </a:p>
          <a:p>
            <a:r>
              <a:rPr lang="ko-KR" sz="1300">
                <a:solidFill>
                  <a:srgbClr val="172033"/>
                </a:solidFill>
              </a:rPr>
              <a:t>docs/exp/v5/4_reporting/final_handoff_runbook.md</a:t>
            </a:r>
          </a:p>
          <a:p>
            <a:r>
              <a:rPr lang="ko-KR" sz="1300">
                <a:solidFill>
                  <a:srgbClr val="172033"/>
                </a:solidFill>
              </a:rPr>
              <a:t>docs/exp/v5/4_reporting/post_result_patch_plan_ko.md</a:t>
            </a:r>
          </a:p>
          <a:p>
            <a:r>
              <a:rPr lang="ko-KR" sz="1300">
                <a:solidFill>
                  <a:srgbClr val="172033"/>
                </a:solidFill>
              </a:rPr>
              <a:t>docs/exp/v5/3_evaluation/post_checkpoint_execution_plan.md</a:t>
            </a:r>
          </a:p>
          <a:p>
            <a:r>
              <a:rPr lang="ko-KR" sz="1300">
                <a:solidFill>
                  <a:srgbClr val="172033"/>
                </a:solidFill>
              </a:rPr>
              <a:t>docs/exp/v5/4_reporting/finalization_gate_status.md</a:t>
            </a:r>
          </a:p>
          <a:p>
            <a:r>
              <a:rPr lang="ko-KR" sz="1300">
                <a:solidFill>
                  <a:srgbClr val="172033"/>
                </a:solidFill>
              </a:rPr>
              <a:t>docs/exp/v5/4_reporting/final_claim_freeze_audit.md</a:t>
            </a:r>
          </a:p>
          <a:p>
            <a:r>
              <a:rPr lang="ko-KR" sz="1300">
                <a:solidFill>
                  <a:srgbClr val="172033"/>
                </a:solidFill>
              </a:rPr>
              <a:t>docs/exp/v5/4_reporting/reporting_package_audit.md</a:t>
            </a:r>
          </a:p>
          <a:p>
            <a:r>
              <a:rPr lang="ko-KR" sz="1300">
                <a:solidFill>
                  <a:srgbClr val="172033"/>
                </a:solidFill>
              </a:rPr>
              <a:t>docs/exp/v5/4_reporting/artifact_reference_audit.md</a:t>
            </a:r>
          </a:p>
          <a:p>
            <a:r>
              <a:rPr lang="ko-KR" sz="1800">
                <a:solidFill>
                  <a:srgbClr val="172033"/>
                </a:solidFill>
              </a:rPr>
              <a:t>Final rule:</a:t>
            </a:r>
          </a:p>
          <a:p>
            <a:r>
              <a:rPr lang="ko-KR" sz="1300">
                <a:solidFill>
                  <a:srgbClr val="172033"/>
                </a:solidFill>
              </a:rPr>
              <a:t>Only aggregation-promoted values become final report/PPT claims.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85800" y="6320000"/>
            <a:ext cx="108204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900">
                <a:solidFill>
                  <a:srgbClr val="5C667A"/>
                </a:solidFill>
              </a:rPr>
              <a:t>Source: docs/exp/v5/4_reporting/02_slides/final_deck_ko.md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5 Theme">
  <a:themeElements>
    <a:clrScheme name="v5">
      <a:dk1>
        <a:srgbClr val="172033"/>
      </a:dk1>
      <a:lt1>
        <a:srgbClr val="FFFFFF"/>
      </a:lt1>
      <a:dk2>
        <a:srgbClr val="0F3D3E"/>
      </a:dk2>
      <a:lt2>
        <a:srgbClr val="F7F8FB"/>
      </a:lt2>
      <a:accent1>
        <a:srgbClr val="0F766E"/>
      </a:accent1>
      <a:accent2>
        <a:srgbClr val="2563EB"/>
      </a:accent2>
      <a:accent3>
        <a:srgbClr val="7C3AED"/>
      </a:accent3>
      <a:accent4>
        <a:srgbClr val="D97706"/>
      </a:accent4>
      <a:accent5>
        <a:srgbClr val="DC2626"/>
      </a:accent5>
      <a:accent6>
        <a:srgbClr val="475569"/>
      </a:accent6>
      <a:hlink>
        <a:srgbClr val="2563EB"/>
      </a:hlink>
      <a:folHlink>
        <a:srgbClr val="7C3AED"/>
      </a:folHlink>
    </a:clrScheme>
    <a:fontScheme name="v5">
      <a:majorFont>
        <a:latin typeface="Arial"/>
      </a:majorFont>
      <a:minorFont>
        <a:latin typeface="Arial"/>
      </a:minorFont>
    </a:fontScheme>
    <a:fmtScheme name="v5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 generated PPTX</Application>
  <PresentationFormat>On-screen Show (16:9)</PresentationFormat>
  <Slides>15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v5 Glot500 Korean Final Deck</dc:title>
  <dc:creator>Glot500-py39-eval</dc:creator>
  <cp:lastModifiedBy>Glot500-py39-eval</cp:lastModifiedBy>
  <dcterms:created xsi:type="dcterms:W3CDTF">2026-06-28T09:08:30+00:00</dcterms:created>
  <dcterms:modified xsi:type="dcterms:W3CDTF">2026-06-28T09:08:30+00:00</dcterms:modified>
</cp:coreProperties>
</file>